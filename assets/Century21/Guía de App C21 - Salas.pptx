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Merriweather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bold.fntdata"/><Relationship Id="rId25" Type="http://schemas.openxmlformats.org/officeDocument/2006/relationships/font" Target="fonts/Merriweather-regular.fntdata"/><Relationship Id="rId28" Type="http://schemas.openxmlformats.org/officeDocument/2006/relationships/font" Target="fonts/Merriweather-boldItalic.fntdata"/><Relationship Id="rId27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regular.fntdata"/><Relationship Id="rId16" Type="http://schemas.openxmlformats.org/officeDocument/2006/relationships/slide" Target="slides/slide11.xml"/><Relationship Id="rId19" Type="http://schemas.openxmlformats.org/officeDocument/2006/relationships/font" Target="fonts/Roboto-italic.fntdata"/><Relationship Id="rId18" Type="http://schemas.openxmlformats.org/officeDocument/2006/relationships/font" Target="fonts/Roboto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0743ffc5b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0743ffc5b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9d3a2b1f55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9d3a2b1f55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9d3a2b1f55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9d3a2b1f55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d3a2b1f55_0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9d3a2b1f55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9d3a2b1f55_0_2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9d3a2b1f55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3a2b1f55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d3a2b1f55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d3a2b1f55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d3a2b1f55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d3a2b1f55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d3a2b1f55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d3a2b1f55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9d3a2b1f55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d3a2b1f55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9d3a2b1f55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hyperlink" Target="https://expo.dev/preview/update?message=sync+runtime&amp;updateRuntimeVersion=1.0.0&amp;createdAt=2025-11-19T22%3A22%3A43.077Z&amp;slug=exp&amp;projectId=d34372cc-5926-4b50-8f4a-1b0a29d49f6c&amp;group=30a1f16e-2dc6-4a89-aa03-63cc72194df9" TargetMode="External"/><Relationship Id="rId5" Type="http://schemas.openxmlformats.org/officeDocument/2006/relationships/image" Target="../media/image3.png"/><Relationship Id="rId6" Type="http://schemas.openxmlformats.org/officeDocument/2006/relationships/image" Target="../media/image6.png"/><Relationship Id="rId7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Guía de App C21 - Salas</a:t>
            </a:r>
            <a:endParaRPr/>
          </a:p>
        </p:txBody>
      </p:sp>
      <p:pic>
        <p:nvPicPr>
          <p:cNvPr id="65" name="Google Shape;65;p13" title="AppC21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513" y="1422275"/>
            <a:ext cx="2010982" cy="3016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BEAF87"/>
                </a:solidFill>
              </a:rPr>
              <a:t>Instalación </a:t>
            </a:r>
            <a:r>
              <a:rPr lang="es"/>
              <a:t> </a:t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5014300" y="1486175"/>
            <a:ext cx="3631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431650" y="1515575"/>
            <a:ext cx="36696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Android</a:t>
            </a:r>
            <a:endParaRPr sz="1300">
              <a:solidFill>
                <a:schemeClr val="accent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u="sng">
                <a:latin typeface="Roboto"/>
                <a:ea typeface="Roboto"/>
                <a:cs typeface="Roboto"/>
                <a:sym typeface="Roboto"/>
              </a:rPr>
              <a:t>Instalar desde drive (opción 1)</a:t>
            </a:r>
            <a:endParaRPr sz="13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s" sz="900"/>
              <a:t>Abrir carpeta C21-Salas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s" sz="900"/>
              <a:t>Seleccionar el archivo C21-Salas.apk</a:t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s" sz="900">
                <a:latin typeface="Roboto"/>
                <a:ea typeface="Roboto"/>
                <a:cs typeface="Roboto"/>
                <a:sym typeface="Roboto"/>
              </a:rPr>
              <a:t>Habilitar la opcion para instalarlo desde Drive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AutoNum type="arabicPeriod"/>
            </a:pPr>
            <a:r>
              <a:rPr lang="es" sz="900">
                <a:latin typeface="Roboto"/>
                <a:ea typeface="Roboto"/>
                <a:cs typeface="Roboto"/>
                <a:sym typeface="Roboto"/>
              </a:rPr>
              <a:t>Esperar a que se complete la instalación</a:t>
            </a:r>
            <a:endParaRPr sz="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600025" y="3889875"/>
            <a:ext cx="16812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u="sng">
                <a:latin typeface="Roboto"/>
                <a:ea typeface="Roboto"/>
                <a:cs typeface="Roboto"/>
                <a:sym typeface="Roboto"/>
              </a:rPr>
              <a:t>QR de instalación</a:t>
            </a:r>
            <a:endParaRPr sz="13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u="sng">
                <a:latin typeface="Roboto"/>
                <a:ea typeface="Roboto"/>
                <a:cs typeface="Roboto"/>
                <a:sym typeface="Roboto"/>
              </a:rPr>
              <a:t>(opción 2)</a:t>
            </a:r>
            <a:endParaRPr sz="1300" u="sng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34502" l="0" r="0" t="7637"/>
          <a:stretch/>
        </p:blipFill>
        <p:spPr>
          <a:xfrm>
            <a:off x="1185450" y="2483475"/>
            <a:ext cx="1459175" cy="336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5" name="Google Shape;75;p14"/>
          <p:cNvCxnSpPr/>
          <p:nvPr/>
        </p:nvCxnSpPr>
        <p:spPr>
          <a:xfrm>
            <a:off x="4258250" y="1292325"/>
            <a:ext cx="25800" cy="3806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" name="Google Shape;76;p14"/>
          <p:cNvSpPr txBox="1"/>
          <p:nvPr/>
        </p:nvSpPr>
        <p:spPr>
          <a:xfrm>
            <a:off x="4355575" y="1515575"/>
            <a:ext cx="3669600" cy="417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>
                <a:solidFill>
                  <a:srgbClr val="252526"/>
                </a:solidFill>
                <a:latin typeface="Roboto"/>
                <a:ea typeface="Roboto"/>
                <a:cs typeface="Roboto"/>
                <a:sym typeface="Roboto"/>
              </a:rPr>
              <a:t>Apple</a:t>
            </a:r>
            <a:endParaRPr sz="1300">
              <a:solidFill>
                <a:srgbClr val="252526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300" u="sng">
                <a:latin typeface="Roboto"/>
                <a:ea typeface="Roboto"/>
                <a:cs typeface="Roboto"/>
                <a:sym typeface="Roboto"/>
              </a:rPr>
              <a:t>Usar desde Expo</a:t>
            </a:r>
            <a:endParaRPr sz="1300" u="sng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s" sz="900"/>
              <a:t>Instalar </a:t>
            </a:r>
            <a:r>
              <a:rPr lang="es" sz="900"/>
              <a:t>aplicación</a:t>
            </a:r>
            <a:r>
              <a:rPr lang="es" sz="900"/>
              <a:t> de Expo Go</a:t>
            </a:r>
            <a:endParaRPr sz="900"/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AutoNum type="arabicPeriod"/>
            </a:pPr>
            <a:r>
              <a:rPr lang="es" sz="900"/>
              <a:t>Abrir la cámara del celular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AutoNum type="arabicPeriod"/>
            </a:pPr>
            <a:r>
              <a:rPr lang="es" sz="900">
                <a:latin typeface="Roboto"/>
                <a:ea typeface="Roboto"/>
                <a:cs typeface="Roboto"/>
                <a:sym typeface="Roboto"/>
              </a:rPr>
              <a:t>Escanear el siguiente QR: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285750" lvl="0" marL="457200" rtl="0" algn="l">
              <a:spcBef>
                <a:spcPts val="0"/>
              </a:spcBef>
              <a:spcAft>
                <a:spcPts val="0"/>
              </a:spcAft>
              <a:buSzPts val="900"/>
              <a:buFont typeface="Roboto"/>
              <a:buAutoNum type="arabicPeriod"/>
            </a:pPr>
            <a:r>
              <a:rPr lang="es" sz="900">
                <a:latin typeface="Roboto"/>
                <a:ea typeface="Roboto"/>
                <a:cs typeface="Roboto"/>
                <a:sym typeface="Roboto"/>
              </a:rPr>
              <a:t>En caso de no funcionar, intenta ingresar al siguiente enlace:</a:t>
            </a:r>
            <a:endParaRPr sz="900"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7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https://expo.dev/preview/update?message=sync+runtime&amp;updateRuntimeVersion=1.0.0&amp;createdAt=2025-11-19T22%3A22%3A43.077Z&amp;slug=exp&amp;projectId=d34372cc-5926-4b50-8f4a-1b0a29d49f6c&amp;group=30a1f16e-2dc6-4a89-aa03-63cc72194df9</a:t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4"/>
          <p:cNvPicPr preferRelativeResize="0"/>
          <p:nvPr/>
        </p:nvPicPr>
        <p:blipFill rotWithShape="1">
          <a:blip r:embed="rId5">
            <a:alphaModFix/>
          </a:blip>
          <a:srcRect b="7261" l="0" r="0" t="0"/>
          <a:stretch/>
        </p:blipFill>
        <p:spPr>
          <a:xfrm>
            <a:off x="7110700" y="1702900"/>
            <a:ext cx="450351" cy="4713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8" name="Google Shape;78;p14"/>
          <p:cNvCxnSpPr/>
          <p:nvPr/>
        </p:nvCxnSpPr>
        <p:spPr>
          <a:xfrm flipH="1" rot="10800000">
            <a:off x="551650" y="3225875"/>
            <a:ext cx="3729600" cy="12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9" name="Google Shape;7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1225" y="3522013"/>
            <a:ext cx="1345325" cy="1320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65375" y="2672834"/>
            <a:ext cx="1345325" cy="13085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644675" y="210475"/>
            <a:ext cx="4166400" cy="47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Iniciar sesión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Ingrese su correo electrónico y contraseña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Toque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"Iniciar Sesión"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Si los datos son correctos, será redirigido a la pantalla principal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Crear una cuenta nueva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En la pantalla de inicio de sesión, toque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 "Crear cuenta"</a:t>
            </a:r>
            <a:endParaRPr b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Complete los siguientes campos: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Correo electrónico: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Debe ser un correo válido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Contraseña: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Mínimo 8 caracteres, debe incluir: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	- Al menos 1 letra mayúscula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	- Al menos 1 letra minúscula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  	- Al menos 1 número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 Confirmar Contraseña: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Repita la contraseña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Toque el botón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"Registrarse"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Recibirá un correo de verificación (</a:t>
            </a:r>
            <a:r>
              <a:rPr lang="es" sz="11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revisar carpeta de SPAM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Confirme su correo antes de intentar recuperar contraseña en el futuro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600"/>
              </a:spcAft>
              <a:buNone/>
            </a:pPr>
            <a:r>
              <a:t/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6" name="Google Shape;86;p15" title="CrearCuenta.png"/>
          <p:cNvPicPr preferRelativeResize="0"/>
          <p:nvPr/>
        </p:nvPicPr>
        <p:blipFill rotWithShape="1">
          <a:blip r:embed="rId3">
            <a:alphaModFix/>
          </a:blip>
          <a:srcRect b="11648" l="0" r="0" t="4486"/>
          <a:stretch/>
        </p:blipFill>
        <p:spPr>
          <a:xfrm>
            <a:off x="2117875" y="1368150"/>
            <a:ext cx="1593250" cy="2649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5" title="FotoLogin.png"/>
          <p:cNvPicPr preferRelativeResize="0"/>
          <p:nvPr/>
        </p:nvPicPr>
        <p:blipFill rotWithShape="1">
          <a:blip r:embed="rId4">
            <a:alphaModFix/>
          </a:blip>
          <a:srcRect b="0" l="0" r="0" t="16604"/>
          <a:stretch/>
        </p:blipFill>
        <p:spPr>
          <a:xfrm>
            <a:off x="210475" y="263638"/>
            <a:ext cx="1675425" cy="2589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Recuperar Contraseña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En la pantalla de login, toque *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*"¿Olvidaste tu contraseña?"*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Ingrese su correo electrónico registrado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Toque **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"Enviar enlace"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**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Recibirá un correo con instrucciones (</a:t>
            </a:r>
            <a:r>
              <a:rPr lang="es" sz="1100" u="sng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revise spam/correo no deseado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Restablecer la Contraseña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Abra el correo de restablecimiento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Toque el enlace proporcionado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Ingrese su nueva contraseña (debe cumplir los requisitos de seguridad)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Confirme la nueva contraseña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Revise su correo electrónico en la sección de </a:t>
            </a:r>
            <a:r>
              <a:rPr b="1"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SPAM</a:t>
            </a:r>
            <a:endParaRPr b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6" title="RecuperarContraseñ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5200" y="500925"/>
            <a:ext cx="2712400" cy="383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Inicio de la App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Verá una lista de todas las salas 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número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 lado del icono de “persona” indica la capacidad que tiene la sala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Televisor sin tachar = con televisor 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Televisor tachado = sin televisor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Ingresar en una sala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crear una reserva seleccionar la sala donde quiere realizarla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Dentro de la sala verá un calendario donde podrá agregar la reserva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Cerrar Sesión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Tocar el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botón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“Cerrar Sesión” para salir de la cuenta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ingresada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-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 cerrar sesión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podrá recibir notificaciones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600"/>
              </a:spcAft>
              <a:buNone/>
            </a:pPr>
            <a:r>
              <a:t/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7" title="InicioUsuari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975" y="130875"/>
            <a:ext cx="2474897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4644675" y="152400"/>
            <a:ext cx="4166400" cy="444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Navegar entre Salas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la parte superior del calendario: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Botón ◀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(izquierda): Sala anterior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Nombre de la sala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(centro)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Información</a:t>
            </a:r>
            <a:r>
              <a:rPr b="1"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 sala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(centro)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Botón ▶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(derecha): Sala siguiente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Navegar entre semanas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Botón </a:t>
            </a:r>
            <a:r>
              <a:rPr b="1" lang="es" sz="15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‹</a:t>
            </a:r>
            <a:r>
              <a:rPr lang="es" sz="1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(izquierda): Semana anterior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Rango de fechas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(centro)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Botón</a:t>
            </a:r>
            <a:r>
              <a:rPr b="1" lang="es" sz="15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 ›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(derecha): Semana siguiente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Calendario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calendario muestra: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Vista semanal: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Lunes a Sábado (domingo no disponible)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Horario: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09:00 a 19:00 horas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Reservas existentes</a:t>
            </a:r>
            <a:r>
              <a:rPr b="1"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Bloques de color con motivo y horario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Días pasados: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Aparecen deshabilitados y no  pueden ser seleccionados para crear una reserva</a:t>
            </a:r>
            <a:endParaRPr/>
          </a:p>
        </p:txBody>
      </p:sp>
      <p:pic>
        <p:nvPicPr>
          <p:cNvPr id="105" name="Google Shape;105;p18" title="SalaReserv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4850" y="152400"/>
            <a:ext cx="2229763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Crear una Reserva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Toque cualquier día disponible en el calendario (no puede seleccionar días pasados ni domingos)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Se abrirá una ventana de reservas para ese día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Complete los campos: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Hora de inicio: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Toque el campo y seleccione la hora (09:00 - 19:00)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Hora de fin: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Debe ser posterior a la hora de inicio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Motivo: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Describa el propósito de la reserva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 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Notificación: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Recibirá una notificación 60min antes de la reserva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Toque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"Guardar Reserva"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Validaciones automáticas: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La hora de inicio debe ser menor que la hora de fin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El horario debe estar entre 09:00 y 19:00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No puede solaparse con otra reserva existente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Todos los campos son obligatorios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600"/>
              </a:spcAft>
              <a:buNone/>
            </a:pPr>
            <a:r>
              <a:t/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1" name="Google Shape;111;p19" title="CrearReserv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4775" y="152400"/>
            <a:ext cx="2276375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Ver Reservas del Día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la ventana de reservas verá: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Lista de reservas: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Todas las reservas del día seleccionado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Información mostrada: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- Rango horario (ej: 10:00 - 11:30)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- Motivo de la reserva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 - Usuario que realizó la reserva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Editar una Reserva Propia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En la ventana de reservas, toque la reserva que desea editar (solo sus propias reservas)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Los campos se completarán automáticamente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Modifique los datos necesarios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Toque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"Actualizar"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para confirmar los cambios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Nota: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Solo puede editar sus propias reservas. Las reservas de otros usuarios aparecen bloqueadas.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7" name="Google Shape;117;p20" title="CrearReservaConVari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250" y="397950"/>
            <a:ext cx="1994856" cy="409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0" title="EditarReserva.png"/>
          <p:cNvPicPr preferRelativeResize="0"/>
          <p:nvPr/>
        </p:nvPicPr>
        <p:blipFill rotWithShape="1">
          <a:blip r:embed="rId4">
            <a:alphaModFix/>
          </a:blip>
          <a:srcRect b="4067" l="0" r="0" t="0"/>
          <a:stretch/>
        </p:blipFill>
        <p:spPr>
          <a:xfrm>
            <a:off x="2194025" y="397938"/>
            <a:ext cx="1994850" cy="4073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Cancelar una Reserva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 En la ventana de reservas, toque el botón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"Cancelar"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al lado de su reserva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 Confirme la acción en la ventana de confirmación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 La reserva será eliminada inmediatamente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Importante: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Esta acción no se puede deshacer.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s" sz="14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Navegar entre Días</a:t>
            </a:r>
            <a:endParaRPr b="1" sz="14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En el modal de reservas: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◀ Día anterior: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Ver/reservar el día previo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Día siguiente ▶: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Ver/reservar el día siguiente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Los domingos se saltan automáticamente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 title="CrearReservaConVarias.png"/>
          <p:cNvPicPr preferRelativeResize="0"/>
          <p:nvPr/>
        </p:nvPicPr>
        <p:blipFill rotWithShape="1">
          <a:blip r:embed="rId3">
            <a:alphaModFix/>
          </a:blip>
          <a:srcRect b="60414" l="0" r="0" t="0"/>
          <a:stretch/>
        </p:blipFill>
        <p:spPr>
          <a:xfrm>
            <a:off x="924800" y="1179513"/>
            <a:ext cx="2355075" cy="191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000"/>
              </a:spcBef>
              <a:spcAft>
                <a:spcPts val="600"/>
              </a:spcAft>
              <a:buNone/>
            </a:pPr>
            <a:r>
              <a:rPr b="1" lang="es" sz="2200">
                <a:solidFill>
                  <a:srgbClr val="BEAF87"/>
                </a:solidFill>
                <a:latin typeface="Poppins"/>
                <a:ea typeface="Poppins"/>
                <a:cs typeface="Poppins"/>
                <a:sym typeface="Poppins"/>
              </a:rPr>
              <a:t>Preguntas frecuentes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¿Por qué no puedo reservar un domingo?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Los domingos no están disponibles para reservas. El calendario solo muestra de lunes a sábado.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¿Puedo reservar fuera del horario 09:00 - 19:00?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No, el sistema solo permite reservas entre las 09:00 y las 19:00 horas.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¿Puedo ver las reservas de otros usuarios?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Sí, todos los usuarios pueden ver todas las reservas en el calendario, pero solo pueden editar o cancelar sus propias reservas.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¿Qué pasa si dos personas intentan reservar el mismo horario?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El sistema detecta automáticamente solapamientos y no permite crear reservas que se superpongan con otras existentes.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52526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¿Las reservas se sincronizan en tiempo real?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Sí, el sistema usa Firebase para sincronización en tiempo real. Cualquier cambio se refleja inmediatamente en todos los dispositivos conectados.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¿Puedo editar una reserva pasada?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No, los días pasados aparecen atenuados y no se pueden seleccionar ni modificar.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¿Cómo obtengo permisos de administrador?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Contacte a un Superusuario de su organización para que le otorgue el rol de Administrador.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2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¿Qué hago si olvidé mi correo de registro?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Contacte con el administrador del sistema o el departamento de IT de Century 21 para asistencia.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¿La app funciona sin conexión a internet?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No, la aplicación requiere conexión activa a internet para funcionar correctamente, ya que toda la información se almacena en la nube.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¿Puedo usar la app en múltiples dispositivos?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Sí, puede iniciar sesión en varios dispositivos con la misma cuenta. Las reservas y cambios se 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sincronizan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automáticamente.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¿Cómo cierro mi sesión?</a:t>
            </a:r>
            <a:endParaRPr sz="1100" u="sng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Toque el botón "Cerrar Sesión" en la esquina superior derecha de la pantalla principal y confirme la acción.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¿Qué significa "Usuario eliminado" al intentar iniciar sesión?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Esto significa que un administrador eliminó su cuenta. Contacte con su supervisor o el departamento de IT para resolverlo.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¿Puedo cambiar mi correo electrónico?</a:t>
            </a:r>
            <a:endParaRPr sz="1100" u="sng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Actualmente no es posible cambiar el correo desde la app. Contacte con el administrador del sistema.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¿Las notificaciones son obligatorias?</a:t>
            </a:r>
            <a:endParaRPr sz="1100" u="sng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son obligatorias, pero se recomienda activarlas para recibir recordatorios de reservas y actualizaciones importantes.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2000"/>
              </a:spcBef>
              <a:spcAft>
                <a:spcPts val="0"/>
              </a:spcAft>
              <a:buNone/>
            </a:pPr>
            <a:r>
              <a:rPr b="1" lang="es" sz="2200">
                <a:solidFill>
                  <a:srgbClr val="BEAF87"/>
                </a:solidFill>
                <a:latin typeface="Poppins"/>
                <a:ea typeface="Poppins"/>
                <a:cs typeface="Poppins"/>
                <a:sym typeface="Poppins"/>
              </a:rPr>
              <a:t>Soporte Técnico</a:t>
            </a:r>
            <a:endParaRPr b="1" sz="2200">
              <a:solidFill>
                <a:srgbClr val="BEAF87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 asistencia adicional o reporte de problemas: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Contacte al departamento de IT de Century21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Envíe un correo a los administradores del sistema: 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●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caceresjuancruz11@gmail.com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●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lautaa256@gmail.com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Poppins"/>
              <a:buChar char="●"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bribassilion@gmail.com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- Consulte con su Superusuario local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Versión del Manual: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1.0  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Fecha de Actualización:</a:t>
            </a:r>
            <a:r>
              <a:rPr lang="es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Octubre 2025  </a:t>
            </a:r>
            <a:endParaRPr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252526"/>
                </a:solidFill>
                <a:latin typeface="Poppins"/>
                <a:ea typeface="Poppins"/>
                <a:cs typeface="Poppins"/>
                <a:sym typeface="Poppins"/>
              </a:rPr>
              <a:t>Century21 - Sistema de Reservas de Salas</a:t>
            </a:r>
            <a:endParaRPr/>
          </a:p>
        </p:txBody>
      </p:sp>
      <p:pic>
        <p:nvPicPr>
          <p:cNvPr id="137" name="Google Shape;137;p23" title="AppC21Transparen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388" y="630000"/>
            <a:ext cx="2010982" cy="3016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 title="AyudaTecnic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80350" y="1132749"/>
            <a:ext cx="2010975" cy="201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